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Merriweather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8E36AB-B58A-415B-9DF7-F076419E83F2}">
  <a:tblStyle styleId="{DB8E36AB-B58A-415B-9DF7-F076419E83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6611654-0875-4131-9209-07C2EE26FD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regular.fntdata"/><Relationship Id="rId20" Type="http://schemas.openxmlformats.org/officeDocument/2006/relationships/slide" Target="slides/slide14.xml"/><Relationship Id="rId42" Type="http://schemas.openxmlformats.org/officeDocument/2006/relationships/font" Target="fonts/Merriweather-italic.fntdata"/><Relationship Id="rId41" Type="http://schemas.openxmlformats.org/officeDocument/2006/relationships/font" Target="fonts/Merriweather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Merriweather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6cc88469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6cc88469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4f1a9fe4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4f1a9fe4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daf24aff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daf24af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fbd27ee0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fbd27ee0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fbd27ee0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fbd27ee0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fbd27ee0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fbd27ee0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fbd27ee0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fbd27ee0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60b13a1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60b13a1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fbd27ee0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fbd27ee0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599b51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599b51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a2f39031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a2f39031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a2f39031d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a2f39031d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4f1a9fe4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4f1a9fe4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4f1a9fe4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4f1a9fe4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4f1a9fe4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4f1a9fe4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f1a9fe4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f1a9fe4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f1a9fe4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4f1a9fe4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daf24af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daf24af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69555b4d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69555b4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da262e8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da262e8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5ac439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f5ac439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daf24aff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edaf24aff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4f1a9fe4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4f1a9fe4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df9172d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df9172d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4f1a9fe4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4f1a9fe4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38cc4557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38cc455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38cc455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238cc455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f5ac439a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f5ac439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>
            <a:off x="-122630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57200" y="1709125"/>
            <a:ext cx="2102400" cy="3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spreadsheets/d/1p8dLavws-4nG5cg8cnCFZuhpsyIjVwJPRaHkshaL51s/edit?gid=110348007#gid=110348007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0" y="15756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Monthly Business Review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Dec. 11, 2025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" name="Google Shape;71;p16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72" name="Google Shape;7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6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</a:t>
              </a:r>
              <a:r>
                <a:rPr lang="en" sz="1100"/>
                <a:t>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Agenda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05375" y="1478345"/>
            <a:ext cx="64686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Financial Overview - Glenn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lphaL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KPI chart and tracking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Financial Forecast - Dave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Customer Service/Marketing - Matt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Action Items &amp; Calendar Review - Laurie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 Update - Laurie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Risk/Opportunity - Dave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Add’l Discussion Points &amp; Conclusion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Owner Meeting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Financial</a:t>
            </a: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Review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Glenn Jones</a:t>
            </a: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5" name="Google Shape;85;p18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86" name="Google Shape;8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8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Products Shipped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4" name="Google Shape;94;p19"/>
          <p:cNvGraphicFramePr/>
          <p:nvPr/>
        </p:nvGraphicFramePr>
        <p:xfrm>
          <a:off x="815000" y="155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{DB8E36AB-B58A-415B-9DF7-F076419E83F2}</a:tableStyleId>
              </a:tblPr>
              <a:tblGrid>
                <a:gridCol w="2599000"/>
                <a:gridCol w="1505300"/>
                <a:gridCol w="1525850"/>
                <a:gridCol w="16964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Oct  / Nov 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202</a:t>
                      </a: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Shipped stocks in Nov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253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Shipped stocks in Oct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338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Shipped stocks in Sep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238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4-Week Moving Average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Nov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Oct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85</a:t>
                      </a:r>
                      <a:endParaRPr sz="15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AS products delivered 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Nov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Oct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 Card Sales</a:t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264675" y="136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{DB8E36AB-B58A-415B-9DF7-F076419E83F2}</a:tableStyleId>
              </a:tblPr>
              <a:tblGrid>
                <a:gridCol w="3003525"/>
                <a:gridCol w="1739600"/>
                <a:gridCol w="2364750"/>
                <a:gridCol w="1359025"/>
              </a:tblGrid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Credit card sales for Nov 2025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71,694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Credit card sales for Oct 2025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64,391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Credit card sales for Nov 2024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219,366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Credit card sales for Oct 2024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149,189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Credit card sales for Dec 2024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122,023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FF"/>
                          </a:highlight>
                        </a:rPr>
                        <a:t>YTD Comparison 1,917,913.66 (2024) v 1,483,604.54 (2025)</a:t>
                      </a:r>
                      <a:endParaRPr sz="1300">
                        <a:highlight>
                          <a:srgbClr val="FFFFFF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77%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AGC Credit Card Receipts Tracker Oct - Apr.pdf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Combined Financial Highlights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" name="Google Shape;113;p22"/>
          <p:cNvGraphicFramePr/>
          <p:nvPr/>
        </p:nvGraphicFramePr>
        <p:xfrm>
          <a:off x="311725" y="147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{DB8E36AB-B58A-415B-9DF7-F076419E83F2}</a:tableStyleId>
              </a:tblPr>
              <a:tblGrid>
                <a:gridCol w="2850100"/>
                <a:gridCol w="1650750"/>
                <a:gridCol w="1650750"/>
                <a:gridCol w="2244000"/>
              </a:tblGrid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Combined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Nov</a:t>
                      </a:r>
                      <a:r>
                        <a:rPr lang="en" sz="1300"/>
                        <a:t> 2025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Oct 2025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YTD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Revenue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143,964.3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200,480.85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2,244,966.88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Gross Margin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33.63</a:t>
                      </a:r>
                      <a:r>
                        <a:rPr lang="en" sz="1300"/>
                        <a:t>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53.69%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38.21%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Net Income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-5,937.37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18,427.93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-79,631.45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Net Margin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-3.84%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9.43%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-3.55%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Non-recurring expenses included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See additional sheet for cash flow forecast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263</a:t>
                      </a:r>
                      <a:r>
                        <a:rPr lang="en" sz="1300"/>
                        <a:t>,622 end of Nov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300,000</a:t>
                      </a:r>
                      <a:r>
                        <a:rPr lang="en" sz="1300"/>
                        <a:t> end of Dec</a:t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Cash Flow Projection May - Aug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 title="Cash Flow Forecast - May-Aug 2025.pd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25" y="1279850"/>
            <a:ext cx="8912975" cy="53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Financial Highlights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6" name="Google Shape;126;p24"/>
          <p:cNvGraphicFramePr/>
          <p:nvPr/>
        </p:nvGraphicFramePr>
        <p:xfrm>
          <a:off x="311725" y="147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{DB8E36AB-B58A-415B-9DF7-F076419E83F2}</a:tableStyleId>
              </a:tblPr>
              <a:tblGrid>
                <a:gridCol w="3547650"/>
                <a:gridCol w="2054750"/>
                <a:gridCol w="2793200"/>
              </a:tblGrid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Sep 2025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YTD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Revenue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52,600.00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375,292.72</a:t>
                      </a:r>
                      <a:endParaRPr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Gross Margin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36.04%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49.44</a:t>
                      </a:r>
                      <a:r>
                        <a:rPr lang="en" sz="1300"/>
                        <a:t>%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Net Income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16,439.27</a:t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157,125.44</a:t>
                      </a:r>
                      <a:endParaRPr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Net Margin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31.25%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41.87</a:t>
                      </a:r>
                      <a:r>
                        <a:rPr lang="en" sz="1300"/>
                        <a:t>%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Non-recurring expenses included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DDTC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3,000.00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Objectives PL1</a:t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" name="Google Shape;133;p25"/>
          <p:cNvGraphicFramePr/>
          <p:nvPr/>
        </p:nvGraphicFramePr>
        <p:xfrm>
          <a:off x="593750" y="139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916600"/>
                <a:gridCol w="1588075"/>
                <a:gridCol w="645225"/>
                <a:gridCol w="763300"/>
                <a:gridCol w="823875"/>
                <a:gridCol w="823875"/>
                <a:gridCol w="823875"/>
                <a:gridCol w="823875"/>
                <a:gridCol w="823875"/>
              </a:tblGrid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7/3/25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8/7/25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9/4/25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10/2/25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11/6/25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12/4/25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Year over year revenue growth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-62.08%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-70.13%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-65.61%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-65.32%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7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 month credit card sales growth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-16.55%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-11.31%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-12.18%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-9.4%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-15%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-22%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Inventory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upplier’s Avg. Score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90.65%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92.9%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95.07%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95.19%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95.8%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96.08%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Scrap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.89%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OTD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27%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returns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Objectives PL2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365150" y="1475150"/>
            <a:ext cx="846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0" name="Google Shape;140;p26"/>
          <p:cNvGraphicFramePr/>
          <p:nvPr/>
        </p:nvGraphicFramePr>
        <p:xfrm>
          <a:off x="593750" y="139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1077725"/>
                <a:gridCol w="1679825"/>
                <a:gridCol w="710350"/>
                <a:gridCol w="907050"/>
                <a:gridCol w="907050"/>
                <a:gridCol w="907050"/>
                <a:gridCol w="907050"/>
                <a:gridCol w="907050"/>
              </a:tblGrid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Process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KPI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GOAL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8/7/25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9/4/25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10/2/25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11/6/25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12/4/25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1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Year over year revenue growth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4CCC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4CCC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4CCC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44%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44%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Inventory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Supplier’s Avg. Score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93.97%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94.13%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93.53%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93.71%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93.76%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Scrap rate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13.7%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OTD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returns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7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Article Approval</a:t>
                      </a:r>
                      <a:endParaRPr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Focus on When Stocks are Due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025"/>
            <a:ext cx="8924925" cy="366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Stocks Due by Week</a:t>
            </a:r>
            <a:endParaRPr/>
          </a:p>
        </p:txBody>
      </p:sp>
      <p:pic>
        <p:nvPicPr>
          <p:cNvPr id="152" name="Google Shape;152;p2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13" y="1321950"/>
            <a:ext cx="8888025" cy="37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Financial Forecast &amp; Strategy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Dave Tandy</a:t>
            </a: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8" name="Google Shape;158;p29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159" name="Google Shape;15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9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Forecast</a:t>
            </a:r>
            <a:endParaRPr/>
          </a:p>
        </p:txBody>
      </p:sp>
      <p:sp>
        <p:nvSpPr>
          <p:cNvPr id="166" name="Google Shape;166;p30"/>
          <p:cNvSpPr txBox="1"/>
          <p:nvPr/>
        </p:nvSpPr>
        <p:spPr>
          <a:xfrm>
            <a:off x="727375" y="1224475"/>
            <a:ext cx="748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Customer payables update/forecast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$1M LOC from South State Bank update - no change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Decision Points:	no change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○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Grading &amp; slab work - positive results from Yuma, verbal agreement from StrataG for Bandit Orders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○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New CNC - 1000+ units of 12” tube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○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Building Upgrades - discussion triggered at 500+ units of 12” tube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R&amp;D Discussion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○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Methods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○"/>
            </a:pPr>
            <a:r>
              <a:rPr lang="en" sz="2100">
                <a:latin typeface="Roboto"/>
                <a:ea typeface="Roboto"/>
                <a:cs typeface="Roboto"/>
                <a:sym typeface="Roboto"/>
              </a:rPr>
              <a:t>Equipment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 Service, Marketing &amp; Sales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Matt Tandy</a:t>
            </a: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2" name="Google Shape;172;p31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173" name="Google Shape;173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31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&amp; Marketing Update</a:t>
            </a:r>
            <a:endParaRPr/>
          </a:p>
        </p:txBody>
      </p:sp>
      <p:sp>
        <p:nvSpPr>
          <p:cNvPr id="180" name="Google Shape;180;p32"/>
          <p:cNvSpPr txBox="1"/>
          <p:nvPr/>
        </p:nvSpPr>
        <p:spPr>
          <a:xfrm>
            <a:off x="727375" y="1478880"/>
            <a:ext cx="7481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Customer Surveys Conducted - Oct &amp; Nov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Customer Survey Average Score - __/50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Sales pipeline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○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PL1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■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Snowy Mountain Rifles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■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Montana Rifle Company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○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PL2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■"/>
            </a:pPr>
            <a:r>
              <a:rPr lang="en" sz="2300">
                <a:latin typeface="Roboto"/>
                <a:ea typeface="Roboto"/>
                <a:cs typeface="Roboto"/>
                <a:sym typeface="Roboto"/>
              </a:rPr>
              <a:t>Vendor portals/approvals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ctrTitle"/>
          </p:nvPr>
        </p:nvSpPr>
        <p:spPr>
          <a:xfrm>
            <a:off x="0" y="1804250"/>
            <a:ext cx="5484300" cy="16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Action Items &amp; Calendar Review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Laurie Tandy</a:t>
            </a:r>
            <a:endParaRPr b="1" sz="266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6" name="Google Shape;186;p33"/>
          <p:cNvGrpSpPr/>
          <p:nvPr/>
        </p:nvGrpSpPr>
        <p:grpSpPr>
          <a:xfrm>
            <a:off x="3200400" y="152400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187" name="Google Shape;18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33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22007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194" name="Google Shape;194;p34"/>
          <p:cNvGraphicFramePr/>
          <p:nvPr/>
        </p:nvGraphicFramePr>
        <p:xfrm>
          <a:off x="860876" y="127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5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Epoch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Glenn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Phase 2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Bank Transition Plan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Dave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Dave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Phase 1 will be LOC application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ACMA Customer List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Steve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Until complete</a:t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Performance metrics for Epoch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Dave - 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Glenn, Tasha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TBD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200" name="Google Shape;200;p35"/>
          <p:cNvGraphicFramePr/>
          <p:nvPr/>
        </p:nvGraphicFramePr>
        <p:xfrm>
          <a:off x="555651" y="1336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1933350"/>
                <a:gridCol w="1568025"/>
                <a:gridCol w="1568025"/>
                <a:gridCol w="1568025"/>
                <a:gridCol w="1568025"/>
              </a:tblGrid>
              <a:tr h="6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Update company voicemail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 - 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9/11/2025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Acquire backup hard drives; schedule auto backups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11/13/2025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Reach out to Alamo re: bent pillars. Determine need for new subs.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12/11/2025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206" name="Google Shape;206;p36"/>
          <p:cNvGraphicFramePr/>
          <p:nvPr/>
        </p:nvGraphicFramePr>
        <p:xfrm>
          <a:off x="311751" y="135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1998600"/>
                <a:gridCol w="1271250"/>
                <a:gridCol w="1634925"/>
                <a:gridCol w="1634925"/>
                <a:gridCol w="1634925"/>
              </a:tblGrid>
              <a:tr h="71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continuity meeting &amp; “rehearsals”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11/13/2025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Research financial counseling and training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 &amp; HR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ITAR Training created &amp; conducted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ITAR/AS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HR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11/13/2025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Create list of all local defense contractors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Laurie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10/21/2025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Items Status Update</a:t>
            </a:r>
            <a:endParaRPr/>
          </a:p>
        </p:txBody>
      </p:sp>
      <p:graphicFrame>
        <p:nvGraphicFramePr>
          <p:cNvPr id="212" name="Google Shape;212;p37"/>
          <p:cNvGraphicFramePr/>
          <p:nvPr/>
        </p:nvGraphicFramePr>
        <p:xfrm>
          <a:off x="311751" y="135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1998600"/>
                <a:gridCol w="1271250"/>
                <a:gridCol w="1634925"/>
                <a:gridCol w="1634925"/>
                <a:gridCol w="1634925"/>
              </a:tblGrid>
              <a:tr h="71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Source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Responsible Parties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Due 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Identify actions to be returned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Matt &amp; Timmy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12/31/2025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Gate repair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Operations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Glenn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ASAP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complete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Finalize details for Christmas party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Business Review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Angie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12/11/2025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Calendar Review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226900" y="1200725"/>
            <a:ext cx="85206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a.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Term Events (30 days):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		   i.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 11 -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ii. Dec 17 - Christmas Party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iii. TBD - Annual EAB Meeting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iv.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	     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b. Mid-Term Events (31-90 days):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i.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Jan 8 -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 ii. Feb 2-6 - Maintenance Week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iii. Feb 12 -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	iv. Mar 16-20 - Calibration Week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 Long-Term Events (91+ days): 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i. Apr 9 - Business Review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ctrTitle"/>
          </p:nvPr>
        </p:nvSpPr>
        <p:spPr>
          <a:xfrm>
            <a:off x="168825" y="1539850"/>
            <a:ext cx="57540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Corrective Actions Update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Laurie Tandy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4" name="Google Shape;224;p39"/>
          <p:cNvGrpSpPr/>
          <p:nvPr/>
        </p:nvGrpSpPr>
        <p:grpSpPr>
          <a:xfrm>
            <a:off x="3187425" y="113425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225" name="Google Shape;225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39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Corrective Actions Update </a:t>
            </a:r>
            <a:endParaRPr/>
          </a:p>
        </p:txBody>
      </p:sp>
      <p:graphicFrame>
        <p:nvGraphicFramePr>
          <p:cNvPr id="232" name="Google Shape;232;p40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{A6611654-0875-4131-9209-07C2EE26FD29}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 CARs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ctrTitle"/>
          </p:nvPr>
        </p:nvSpPr>
        <p:spPr>
          <a:xfrm>
            <a:off x="168825" y="1539850"/>
            <a:ext cx="57540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Risks and Opportunities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Dave</a:t>
            </a:r>
            <a:r>
              <a:rPr b="1"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Tandy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8" name="Google Shape;238;p41"/>
          <p:cNvGrpSpPr/>
          <p:nvPr/>
        </p:nvGrpSpPr>
        <p:grpSpPr>
          <a:xfrm>
            <a:off x="3187425" y="113425"/>
            <a:ext cx="3990700" cy="1933150"/>
            <a:chOff x="3200400" y="152400"/>
            <a:chExt cx="3990700" cy="1933150"/>
          </a:xfrm>
        </p:grpSpPr>
        <p:pic>
          <p:nvPicPr>
            <p:cNvPr descr="C:\Users\teamtandy\AppData\Local\Microsoft\Windows\INetCache\Content.Word\Logo copy.png" id="239" name="Google Shape;239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0400" y="152400"/>
              <a:ext cx="2419350" cy="10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41"/>
            <p:cNvSpPr txBox="1"/>
            <p:nvPr/>
          </p:nvSpPr>
          <p:spPr>
            <a:xfrm>
              <a:off x="3364000" y="253450"/>
              <a:ext cx="3827100" cy="183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457200" lvl="0" marL="13716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       LLC</a:t>
              </a:r>
              <a:endParaRPr sz="11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Responsive  Reliable  Supportive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&amp; Identify Risks &amp; Opportunities</a:t>
            </a:r>
            <a:endParaRPr/>
          </a:p>
        </p:txBody>
      </p:sp>
      <p:sp>
        <p:nvSpPr>
          <p:cNvPr id="246" name="Google Shape;246;p42"/>
          <p:cNvSpPr txBox="1"/>
          <p:nvPr/>
        </p:nvSpPr>
        <p:spPr>
          <a:xfrm>
            <a:off x="231200" y="1450475"/>
            <a:ext cx="7481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SEE: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QMS Dashboard "Org Risks"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52" name="Google Shape;252;p43"/>
          <p:cNvSpPr txBox="1"/>
          <p:nvPr/>
        </p:nvSpPr>
        <p:spPr>
          <a:xfrm>
            <a:off x="350700" y="1374275"/>
            <a:ext cx="7481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43"/>
          <p:cNvSpPr txBox="1"/>
          <p:nvPr/>
        </p:nvSpPr>
        <p:spPr>
          <a:xfrm>
            <a:off x="619600" y="1673850"/>
            <a:ext cx="7858500" cy="29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Owner Discussion Points</a:t>
            </a:r>
            <a:endParaRPr/>
          </a:p>
        </p:txBody>
      </p:sp>
      <p:sp>
        <p:nvSpPr>
          <p:cNvPr id="259" name="Google Shape;259;p44"/>
          <p:cNvSpPr txBox="1"/>
          <p:nvPr/>
        </p:nvSpPr>
        <p:spPr>
          <a:xfrm>
            <a:off x="350700" y="1374275"/>
            <a:ext cx="7481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4"/>
          <p:cNvSpPr txBox="1"/>
          <p:nvPr/>
        </p:nvSpPr>
        <p:spPr>
          <a:xfrm>
            <a:off x="619600" y="1673850"/>
            <a:ext cx="7858500" cy="29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AutoNum type="arabicPeriod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Christmas Bonus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AutoNum type="arabicPeriod"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Follow up on Steve’s email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