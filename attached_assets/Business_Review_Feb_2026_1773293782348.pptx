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Play"/>
      <p:regular r:id="rId37"/>
      <p:bold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87A8FC-498D-407A-AF79-C660F34D5A1E}">
  <a:tblStyle styleId="{6187A8FC-498D-407A-AF79-C660F34D5A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3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5.xml"/><Relationship Id="rId44" Type="http://schemas.openxmlformats.org/officeDocument/2006/relationships/font" Target="fonts/Merriweather-bold.fntdata"/><Relationship Id="rId21" Type="http://schemas.openxmlformats.org/officeDocument/2006/relationships/slide" Target="slides/slide14.xml"/><Relationship Id="rId43" Type="http://schemas.openxmlformats.org/officeDocument/2006/relationships/font" Target="fonts/Merriweather-regular.fntdata"/><Relationship Id="rId24" Type="http://schemas.openxmlformats.org/officeDocument/2006/relationships/slide" Target="slides/slide17.xml"/><Relationship Id="rId46" Type="http://schemas.openxmlformats.org/officeDocument/2006/relationships/font" Target="fonts/Merriweather-boldItalic.fntdata"/><Relationship Id="rId23" Type="http://schemas.openxmlformats.org/officeDocument/2006/relationships/slide" Target="slides/slide16.xml"/><Relationship Id="rId45" Type="http://schemas.openxmlformats.org/officeDocument/2006/relationships/font" Target="fonts/Merriweather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Play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Roboto-regular.fntdata"/><Relationship Id="rId16" Type="http://schemas.openxmlformats.org/officeDocument/2006/relationships/slide" Target="slides/slide9.xml"/><Relationship Id="rId38" Type="http://schemas.openxmlformats.org/officeDocument/2006/relationships/font" Target="fonts/Play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6cc884697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6cc88469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544babd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7544babd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fbd27ee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fbd27ee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df9172d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df9172d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7544bab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7544bab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7544babd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7544babd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7544babd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7544babd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4f1a9fe4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4f1a9fe4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4f1a9fe4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54f1a9fe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7544bab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7544bab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6c22fa7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6c22fa7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7544babdd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7544babdd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7544babdd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c7544babdd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7544babdd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7544babdd_0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c7544babdd_0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7544babdd_0_2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7544babdd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c7544babdd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c7544babdd_0_2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7544babdd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c7544babdd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7544babdd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7544babdd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c7544babdd_0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7544babdd_0_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4f1a9fe4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54f1a9fe4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daf24af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daf24af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69555b4d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769555b4d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da262e8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da262e8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f5ac439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f5ac439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4f1a9fe4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4f1a9fe4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238cc455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238cc455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7544babd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7544babd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7544babd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7544babd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edaf24aff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edaf24aff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238cc455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238cc455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-122630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157200" y="1709125"/>
            <a:ext cx="2102400" cy="3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21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8" name="Google Shape;118;p24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spreadsheets/d/1p8dLavws-4nG5cg8cnCFZuhpsyIjVwJPRaHkshaL51s/edit?gid=110348007#gid=110348007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ctrTitle"/>
          </p:nvPr>
        </p:nvSpPr>
        <p:spPr>
          <a:xfrm>
            <a:off x="0" y="15756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Monthly Business Review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Feb. 12, 2026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6" name="Google Shape;146;p28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147" name="Google Shape;14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8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</a:t>
              </a:r>
              <a:r>
                <a:rPr lang="en" sz="1100"/>
                <a:t>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Agenda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505375" y="1279925"/>
            <a:ext cx="64686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QMS Update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Operations -</a:t>
            </a: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Matt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lphaL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Customer Reviews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lphaL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 Changes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Business Development 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Action Items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Risk/Opportunity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Calendar Review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AutoNum type="arabicPeriod"/>
            </a:pP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Add’l Discussion Points &amp; Conclusion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QMS Update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0" name="Google Shape;160;p30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161" name="Google Shape;161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30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25" y="500925"/>
            <a:ext cx="87237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KPIs </a:t>
            </a:r>
            <a:endParaRPr/>
          </a:p>
        </p:txBody>
      </p:sp>
      <p:sp>
        <p:nvSpPr>
          <p:cNvPr id="168" name="Google Shape;168;p31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9" name="Google Shape;169;p31"/>
          <p:cNvGraphicFramePr/>
          <p:nvPr/>
        </p:nvGraphicFramePr>
        <p:xfrm>
          <a:off x="616650" y="139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1042725"/>
                <a:gridCol w="2586750"/>
                <a:gridCol w="940825"/>
                <a:gridCol w="683225"/>
                <a:gridCol w="773500"/>
              </a:tblGrid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GOAL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PL1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PL2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Inventory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upplier’s Avg. Score (quarterly)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93.78%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Scrap rate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OTD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46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returns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First Article Approval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Corrective Actions Update </a:t>
            </a:r>
            <a:endParaRPr/>
          </a:p>
        </p:txBody>
      </p:sp>
      <p:graphicFrame>
        <p:nvGraphicFramePr>
          <p:cNvPr id="175" name="Google Shape;175;p3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 CARs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6" name="Google Shape;176;p32"/>
          <p:cNvSpPr txBox="1"/>
          <p:nvPr/>
        </p:nvSpPr>
        <p:spPr>
          <a:xfrm>
            <a:off x="892875" y="3060150"/>
            <a:ext cx="729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Nonconformities - Formal</a:t>
            </a:r>
            <a:endParaRPr/>
          </a:p>
        </p:txBody>
      </p:sp>
      <p:sp>
        <p:nvSpPr>
          <p:cNvPr id="182" name="Google Shape;182;p33"/>
          <p:cNvSpPr txBox="1"/>
          <p:nvPr/>
        </p:nvSpPr>
        <p:spPr>
          <a:xfrm>
            <a:off x="412100" y="1274425"/>
            <a:ext cx="8302800" cy="3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Rock West Laminated Tubes NCR-26001 Complete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lphaL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Issue: Lack of Fill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StrataG Fuselage Tube 26-00028 RMA Issued, Tube Replaced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lphaL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Issue: Delamination found after machining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StrataG Fuselage Tube 2500590 - RMA Issued, repair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Nonconformities</a:t>
            </a:r>
            <a:endParaRPr/>
          </a:p>
        </p:txBody>
      </p:sp>
      <p:graphicFrame>
        <p:nvGraphicFramePr>
          <p:cNvPr id="188" name="Google Shape;188;p34"/>
          <p:cNvGraphicFramePr/>
          <p:nvPr/>
        </p:nvGraphicFramePr>
        <p:xfrm>
          <a:off x="1456180" y="13582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2069625"/>
                <a:gridCol w="2069625"/>
                <a:gridCol w="2069625"/>
              </a:tblGrid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Scrap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R&amp;D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Repair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STR2600003 - seam gap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STR2600006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STR2500580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STR2600005 - poly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ROC2600001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STR2500577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ROC2600009 - delam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ROC2600002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STR2600035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ROC2600015 - lack of fill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RD2600002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STR2500615 - delam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STR2600042 - ridges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5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ROC2600014 - ply schedule</a:t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Articles</a:t>
            </a:r>
            <a:endParaRPr/>
          </a:p>
        </p:txBody>
      </p:sp>
      <p:sp>
        <p:nvSpPr>
          <p:cNvPr id="194" name="Google Shape;194;p35"/>
          <p:cNvSpPr txBox="1"/>
          <p:nvPr/>
        </p:nvSpPr>
        <p:spPr>
          <a:xfrm>
            <a:off x="412100" y="1602575"/>
            <a:ext cx="8302800" cy="3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StrataG Fuselage Tube - SG022317, Accepted 1/7/2026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Operations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Matt Tandy</a:t>
            </a: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0" name="Google Shape;200;p36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201" name="Google Shape;20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36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Update</a:t>
            </a:r>
            <a:endParaRPr/>
          </a:p>
        </p:txBody>
      </p:sp>
      <p:sp>
        <p:nvSpPr>
          <p:cNvPr id="208" name="Google Shape;208;p37"/>
          <p:cNvSpPr txBox="1"/>
          <p:nvPr/>
        </p:nvSpPr>
        <p:spPr>
          <a:xfrm>
            <a:off x="727375" y="1478880"/>
            <a:ext cx="7481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January Customer Survey Average Score - 45/50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○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Google Reviews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New Customer Production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○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Montana Rifle Company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New Product Production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New Equipment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Update</a:t>
            </a:r>
            <a:endParaRPr/>
          </a:p>
        </p:txBody>
      </p:sp>
      <p:sp>
        <p:nvSpPr>
          <p:cNvPr id="214" name="Google Shape;214;p38"/>
          <p:cNvSpPr txBox="1"/>
          <p:nvPr/>
        </p:nvSpPr>
        <p:spPr>
          <a:xfrm>
            <a:off x="727375" y="1310992"/>
            <a:ext cx="7481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Production Changes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15" name="Google Shape;215;p38"/>
          <p:cNvGraphicFramePr/>
          <p:nvPr/>
        </p:nvGraphicFramePr>
        <p:xfrm>
          <a:off x="7846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816275"/>
                <a:gridCol w="3242025"/>
                <a:gridCol w="2029150"/>
                <a:gridCol w="2029150"/>
              </a:tblGrid>
              <a:tr h="88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Purpose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 Complete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Y/N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5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Monitor and record temperature of mandrel and lay up table prior to laying up tubes.  Parameters set at 70°F - 80°F for optimal results.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 consistency of surface quality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5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RW Laminate Tube changed to 98” - NEED WRITTEN APPROVAL AND CHANGE SHEET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 efficiency, reduce surface defects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Development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Chase Wolk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1" name="Google Shape;221;p39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222" name="Google Shape;22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39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0"/>
          <p:cNvSpPr/>
          <p:nvPr/>
        </p:nvSpPr>
        <p:spPr>
          <a:xfrm>
            <a:off x="3402788" y="2761054"/>
            <a:ext cx="5733048" cy="2382446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0"/>
          <p:cNvSpPr txBox="1"/>
          <p:nvPr>
            <p:ph idx="1" type="subTitle"/>
          </p:nvPr>
        </p:nvSpPr>
        <p:spPr>
          <a:xfrm>
            <a:off x="628650" y="2926557"/>
            <a:ext cx="37194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 sz="3300">
                <a:solidFill>
                  <a:schemeClr val="lt1"/>
                </a:solidFill>
              </a:rPr>
              <a:t>Business Development Outlook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solidFill>
                <a:schemeClr val="lt1"/>
              </a:solidFill>
            </a:endParaRPr>
          </a:p>
        </p:txBody>
      </p:sp>
      <p:cxnSp>
        <p:nvCxnSpPr>
          <p:cNvPr id="232" name="Google Shape;232;p40"/>
          <p:cNvCxnSpPr/>
          <p:nvPr/>
        </p:nvCxnSpPr>
        <p:spPr>
          <a:xfrm rot="10800000">
            <a:off x="628799" y="2761056"/>
            <a:ext cx="8515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AG Composites" id="233" name="Google Shape;233;p40"/>
          <p:cNvSpPr/>
          <p:nvPr/>
        </p:nvSpPr>
        <p:spPr>
          <a:xfrm>
            <a:off x="4415415" y="25344"/>
            <a:ext cx="4673998" cy="2652956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40"/>
          <p:cNvSpPr txBox="1"/>
          <p:nvPr/>
        </p:nvSpPr>
        <p:spPr>
          <a:xfrm>
            <a:off x="7043738" y="4875049"/>
            <a:ext cx="20457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Date: 2/12/26</a:t>
            </a:r>
            <a:endParaRPr sz="1100"/>
          </a:p>
        </p:txBody>
      </p:sp>
      <p:sp>
        <p:nvSpPr>
          <p:cNvPr id="235" name="Google Shape;235;p40"/>
          <p:cNvSpPr txBox="1"/>
          <p:nvPr/>
        </p:nvSpPr>
        <p:spPr>
          <a:xfrm>
            <a:off x="0" y="4623147"/>
            <a:ext cx="3569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230 Hamer Rd, Owens Cross Roads, AL 35763 (HQ &amp; Manufacturing)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0"/>
          <p:cNvSpPr/>
          <p:nvPr/>
        </p:nvSpPr>
        <p:spPr>
          <a:xfrm>
            <a:off x="159583" y="143393"/>
            <a:ext cx="1426330" cy="428987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40"/>
          <p:cNvSpPr txBox="1"/>
          <p:nvPr/>
        </p:nvSpPr>
        <p:spPr>
          <a:xfrm>
            <a:off x="2176463" y="4907878"/>
            <a:ext cx="434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UNCLASSIFIED –  COMPETITIVE SENSITIVE INFORMATION 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Proprietary- </a:t>
            </a: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Sharing or forwarding of information without express written approval from Originator is not authorized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4159919" y="-1"/>
            <a:ext cx="4984083" cy="1793498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C0C0C"/>
              </a:gs>
              <a:gs pos="46000">
                <a:srgbClr val="0C0C0C"/>
              </a:gs>
              <a:gs pos="90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 txBox="1"/>
          <p:nvPr>
            <p:ph type="title"/>
          </p:nvPr>
        </p:nvSpPr>
        <p:spPr>
          <a:xfrm>
            <a:off x="500225" y="515314"/>
            <a:ext cx="42621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Play"/>
              <a:buNone/>
            </a:pPr>
            <a:r>
              <a:rPr lang="en" sz="2700">
                <a:solidFill>
                  <a:schemeClr val="lt1"/>
                </a:solidFill>
              </a:rPr>
              <a:t>Market Position &amp; Competitive Landscape</a:t>
            </a:r>
            <a:endParaRPr/>
          </a:p>
        </p:txBody>
      </p:sp>
      <p:cxnSp>
        <p:nvCxnSpPr>
          <p:cNvPr id="247" name="Google Shape;247;p41"/>
          <p:cNvCxnSpPr/>
          <p:nvPr/>
        </p:nvCxnSpPr>
        <p:spPr>
          <a:xfrm rot="10800000">
            <a:off x="890700" y="1798429"/>
            <a:ext cx="8253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890751" y="1869060"/>
            <a:ext cx="76818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Tier 1 —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Global materials producers Hexcel, Toray, Teijin dominate supply of carbon fibers/resinsTier-1 companies control roughly 45–50% of revenue share globally Providing structural materials for UAV manufacturing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Tier 2 —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 Aerospace/UAS component manufacturers Examples: Hawthorn/Spintech producing structural airframe components at scale for defense programs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 SPECTRWORKS-manufacturing  composite UAS parts to scale OEMs production capabilities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Composites Universal- building wings, fuselages, booms, and panels.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These firms typically support: Prototype-to-production ramps Aerospace quality documentation Structural aerostructure fabrication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Tier 3 —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UAS OEMs / integrators Example: Griffon Aerospace designing and producing UAV systems and composite structures with thousands of aircraft delivered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" sz="1200">
                <a:solidFill>
                  <a:schemeClr val="lt1"/>
                </a:solidFill>
              </a:rPr>
              <a:t>AG Advanced Technologies-A proven UAS and aerospace composites supplier with years of experience in  manufacturing high-end  composite solutions. We are a highly agile competitor with infinite possibilities in this marketplace</a:t>
            </a:r>
            <a:endParaRPr/>
          </a:p>
        </p:txBody>
      </p:sp>
      <p:sp>
        <p:nvSpPr>
          <p:cNvPr descr="AG Composites" id="249" name="Google Shape;249;p41"/>
          <p:cNvSpPr/>
          <p:nvPr/>
        </p:nvSpPr>
        <p:spPr>
          <a:xfrm>
            <a:off x="41672" y="0"/>
            <a:ext cx="1120095" cy="63576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C0C0C"/>
              </a:gs>
              <a:gs pos="46000">
                <a:srgbClr val="0C0C0C"/>
              </a:gs>
              <a:gs pos="90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2"/>
          <p:cNvSpPr txBox="1"/>
          <p:nvPr>
            <p:ph type="title"/>
          </p:nvPr>
        </p:nvSpPr>
        <p:spPr>
          <a:xfrm>
            <a:off x="709776" y="558176"/>
            <a:ext cx="42621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</a:pPr>
            <a:r>
              <a:rPr b="0" i="0" lang="en" sz="2700" u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Current Pipeline &amp; Near-Term Opportunities</a:t>
            </a:r>
            <a:endParaRPr sz="2700">
              <a:solidFill>
                <a:schemeClr val="lt1"/>
              </a:solidFill>
            </a:endParaRPr>
          </a:p>
        </p:txBody>
      </p:sp>
      <p:cxnSp>
        <p:nvCxnSpPr>
          <p:cNvPr id="258" name="Google Shape;258;p42"/>
          <p:cNvCxnSpPr/>
          <p:nvPr/>
        </p:nvCxnSpPr>
        <p:spPr>
          <a:xfrm rot="10800000">
            <a:off x="890700" y="1798429"/>
            <a:ext cx="8253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The image shows a sleek, metallic, rectangular object with a clear handle, resting on a polished, reflective surface." id="259" name="Google Shape;259;p42"/>
          <p:cNvSpPr txBox="1"/>
          <p:nvPr>
            <p:ph idx="1" type="body"/>
          </p:nvPr>
        </p:nvSpPr>
        <p:spPr>
          <a:xfrm>
            <a:off x="5416255" y="-33150"/>
            <a:ext cx="3769500" cy="1866900"/>
          </a:xfrm>
          <a:prstGeom prst="rect">
            <a:avLst/>
          </a:prstGeom>
          <a:noFill/>
          <a:ln>
            <a:noFill/>
          </a:ln>
        </p:spPr>
      </p:sp>
      <p:sp>
        <p:nvSpPr>
          <p:cNvPr descr="AG Composites" id="260" name="Google Shape;260;p42"/>
          <p:cNvSpPr/>
          <p:nvPr/>
        </p:nvSpPr>
        <p:spPr>
          <a:xfrm>
            <a:off x="41672" y="0"/>
            <a:ext cx="1120095" cy="635765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2"/>
          <p:cNvSpPr txBox="1"/>
          <p:nvPr/>
        </p:nvSpPr>
        <p:spPr>
          <a:xfrm>
            <a:off x="890751" y="1869060"/>
            <a:ext cx="81009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78911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AEVEX  UAS Heated Pitot Tubes-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-I have been working with AEVEX Tactical Systems to offer them a heated pitot tube solution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-AEVEX has shown great interest and requested a slick sheet on our potential product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-I supplied AEVEX with the slick sheet and additional support, as a result AEVEX has agreed to fund a first article of our heated pitot tube solution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-The AEVEX PM for this effort has relayed to me that upon approval of our first article AEVEX will release a PO to us for QTY. 1,200 heated pitot tubes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1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Contract Value</a:t>
            </a: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$420,000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1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PWIN Opportunity</a:t>
            </a: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911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IFRCO-QTY. 25 Bandit Order-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-Strata-G Solutions is working to reduce the systems unit cost to $80,000-$90,000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-If Strata-G can reach the customers cost needs then IFRCO will place an order for the manufacturing of QTY. 25-40 Bandit aircraft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1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Contract  Value</a:t>
            </a: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$675,000-$1,080,000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" sz="11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PWIN Opportunity</a:t>
            </a: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Pipeline Value</a:t>
            </a: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$1.5M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C0C0C"/>
              </a:gs>
              <a:gs pos="46000">
                <a:srgbClr val="0C0C0C"/>
              </a:gs>
              <a:gs pos="90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3"/>
          <p:cNvSpPr txBox="1"/>
          <p:nvPr>
            <p:ph type="title"/>
          </p:nvPr>
        </p:nvSpPr>
        <p:spPr>
          <a:xfrm>
            <a:off x="709776" y="558176"/>
            <a:ext cx="42621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</a:pPr>
            <a:r>
              <a:rPr b="0" i="0" lang="en" sz="2700" u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Near-Term Opportunities</a:t>
            </a:r>
            <a:endParaRPr sz="2700">
              <a:solidFill>
                <a:schemeClr val="lt1"/>
              </a:solidFill>
            </a:endParaRPr>
          </a:p>
        </p:txBody>
      </p:sp>
      <p:cxnSp>
        <p:nvCxnSpPr>
          <p:cNvPr id="270" name="Google Shape;270;p43"/>
          <p:cNvCxnSpPr/>
          <p:nvPr/>
        </p:nvCxnSpPr>
        <p:spPr>
          <a:xfrm rot="10800000">
            <a:off x="890700" y="1798429"/>
            <a:ext cx="8253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AG Composites" id="271" name="Google Shape;271;p43"/>
          <p:cNvSpPr/>
          <p:nvPr/>
        </p:nvSpPr>
        <p:spPr>
          <a:xfrm>
            <a:off x="41672" y="0"/>
            <a:ext cx="1120095" cy="635765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43"/>
          <p:cNvSpPr txBox="1"/>
          <p:nvPr/>
        </p:nvSpPr>
        <p:spPr>
          <a:xfrm>
            <a:off x="890751" y="1869060"/>
            <a:ext cx="81009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RED-SIX Low-cost Aerial Target-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-Customer has relayed need for a low-cost aerial target with a unit cost of 30-40k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-Customer is currently TDY for the next two weeks and requested an initial concept review meeting once    they return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Contract Value</a:t>
            </a: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TBD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" sz="13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PWIN Opportunity</a:t>
            </a: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</a:t>
            </a:r>
            <a:endParaRPr sz="1100"/>
          </a:p>
        </p:txBody>
      </p:sp>
      <p:sp>
        <p:nvSpPr>
          <p:cNvPr descr="The image shows a 3D model of an aircraft, with various tools and components visible on the SOLIDWORKS software interface.&#10;&#10;AI-generated content may be incorrect." id="273" name="Google Shape;273;p43"/>
          <p:cNvSpPr txBox="1"/>
          <p:nvPr>
            <p:ph idx="1" type="body"/>
          </p:nvPr>
        </p:nvSpPr>
        <p:spPr>
          <a:xfrm>
            <a:off x="5900738" y="0"/>
            <a:ext cx="3243300" cy="182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F7FC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12" scaled="0"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C0C0C"/>
              </a:gs>
              <a:gs pos="46000">
                <a:srgbClr val="0C0C0C"/>
              </a:gs>
              <a:gs pos="90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4"/>
          <p:cNvSpPr txBox="1"/>
          <p:nvPr>
            <p:ph type="title"/>
          </p:nvPr>
        </p:nvSpPr>
        <p:spPr>
          <a:xfrm>
            <a:off x="678901" y="553414"/>
            <a:ext cx="42621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Revenue Forecast</a:t>
            </a:r>
            <a:endParaRPr sz="2700">
              <a:solidFill>
                <a:schemeClr val="lt1"/>
              </a:solidFill>
            </a:endParaRPr>
          </a:p>
        </p:txBody>
      </p:sp>
      <p:cxnSp>
        <p:nvCxnSpPr>
          <p:cNvPr id="282" name="Google Shape;282;p44"/>
          <p:cNvCxnSpPr/>
          <p:nvPr/>
        </p:nvCxnSpPr>
        <p:spPr>
          <a:xfrm rot="10800000">
            <a:off x="890700" y="1798429"/>
            <a:ext cx="8253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AG Composites" id="283" name="Google Shape;283;p44"/>
          <p:cNvSpPr/>
          <p:nvPr/>
        </p:nvSpPr>
        <p:spPr>
          <a:xfrm>
            <a:off x="41672" y="0"/>
            <a:ext cx="1120095" cy="635765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4"/>
          <p:cNvSpPr txBox="1"/>
          <p:nvPr/>
        </p:nvSpPr>
        <p:spPr>
          <a:xfrm>
            <a:off x="890751" y="1869060"/>
            <a:ext cx="81009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/>
          </a:p>
        </p:txBody>
      </p:sp>
      <p:sp>
        <p:nvSpPr>
          <p:cNvPr descr="The image shows a black carbon fiber tube lying flat on a surface.&#10;&#10;AI-generated content may be incorrect." id="285" name="Google Shape;285;p44"/>
          <p:cNvSpPr txBox="1"/>
          <p:nvPr>
            <p:ph idx="1" type="body"/>
          </p:nvPr>
        </p:nvSpPr>
        <p:spPr>
          <a:xfrm>
            <a:off x="4652963" y="-47625"/>
            <a:ext cx="4703400" cy="5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4"/>
          <p:cNvSpPr txBox="1"/>
          <p:nvPr/>
        </p:nvSpPr>
        <p:spPr>
          <a:xfrm>
            <a:off x="811849" y="1906170"/>
            <a:ext cx="4579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Strata-G Fuselage Tubes:</a:t>
            </a: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have delivered 149 tubes and have 151 remaining </a:t>
            </a: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revenue generated so far is $195,935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PO Value</a:t>
            </a: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(SG022317) $394,500</a:t>
            </a: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Rock West Fuselage Tubes:</a:t>
            </a: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have delivered 0 tubes and have 245 remaining</a:t>
            </a: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PO Value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-(PO014332) $189,875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REVENUE TOTAL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$584,375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F7FC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12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C0C0C"/>
              </a:gs>
              <a:gs pos="46000">
                <a:srgbClr val="0C0C0C"/>
              </a:gs>
              <a:gs pos="90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5"/>
          <p:cNvSpPr txBox="1"/>
          <p:nvPr>
            <p:ph type="title"/>
          </p:nvPr>
        </p:nvSpPr>
        <p:spPr>
          <a:xfrm>
            <a:off x="524908" y="433042"/>
            <a:ext cx="42621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None/>
            </a:pPr>
            <a:r>
              <a:rPr lang="en" sz="3000">
                <a:solidFill>
                  <a:schemeClr val="lt1"/>
                </a:solidFill>
              </a:rPr>
              <a:t>60–90 Day Execution Plan</a:t>
            </a:r>
            <a:endParaRPr/>
          </a:p>
        </p:txBody>
      </p:sp>
      <p:cxnSp>
        <p:nvCxnSpPr>
          <p:cNvPr id="295" name="Google Shape;295;p45"/>
          <p:cNvCxnSpPr/>
          <p:nvPr/>
        </p:nvCxnSpPr>
        <p:spPr>
          <a:xfrm rot="10800000">
            <a:off x="890700" y="1798429"/>
            <a:ext cx="8253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AG Composites" id="296" name="Google Shape;296;p45"/>
          <p:cNvSpPr/>
          <p:nvPr/>
        </p:nvSpPr>
        <p:spPr>
          <a:xfrm>
            <a:off x="41672" y="0"/>
            <a:ext cx="1120095" cy="635765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5"/>
          <p:cNvSpPr txBox="1"/>
          <p:nvPr/>
        </p:nvSpPr>
        <p:spPr>
          <a:xfrm>
            <a:off x="890751" y="1869060"/>
            <a:ext cx="81009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100"/>
          </a:p>
        </p:txBody>
      </p:sp>
      <p:sp>
        <p:nvSpPr>
          <p:cNvPr id="298" name="Google Shape;298;p45"/>
          <p:cNvSpPr txBox="1"/>
          <p:nvPr/>
        </p:nvSpPr>
        <p:spPr>
          <a:xfrm>
            <a:off x="811849" y="1906170"/>
            <a:ext cx="45792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installation of improved fuselage tube rolling table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Manufacture and deliver AEVEX heated pitot tube first article</a:t>
            </a:r>
            <a:endParaRPr sz="1100"/>
          </a:p>
          <a:p>
            <a:pPr indent="-139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 STRATA-G in landing IFRCO contract for manufacturing of QTY-25 Bandit aircraft</a:t>
            </a:r>
            <a:endParaRPr sz="1100"/>
          </a:p>
          <a:p>
            <a:pPr indent="-139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Continue internal design of AG Advanced Technologies conceptual low-cost aerial target for RED-SIX</a:t>
            </a:r>
            <a:endParaRPr sz="1100"/>
          </a:p>
          <a:p>
            <a:pPr indent="-139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Host RED-SIX conceptual design review of low-cost aerial target</a:t>
            </a:r>
            <a:endParaRPr sz="1100"/>
          </a:p>
          <a:p>
            <a:pPr indent="-139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Engage top defense primes and UAS manufacturers, Get AG Advanced Technologies into active programs, not just onto lists</a:t>
            </a:r>
            <a:endParaRPr sz="1100"/>
          </a:p>
          <a:p>
            <a:pPr indent="-139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Participate in key defense industry events ex. AAAA Drone Warfighter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1830587" y="-33337"/>
            <a:ext cx="73134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Action Items 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Laurie Tandy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5" name="Google Shape;305;p46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306" name="Google Shape;306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46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22007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313" name="Google Shape;313;p47"/>
          <p:cNvGraphicFramePr/>
          <p:nvPr/>
        </p:nvGraphicFramePr>
        <p:xfrm>
          <a:off x="860876" y="127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5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Epoch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Glenn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Phase 2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Bank Transition Plan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Dave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Dave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Phase 1 will be LOC application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ACMA Customer List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Steve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Until complete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Not available until spring 2026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Performance metrics for Epoch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Dave - 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Glenn, Tasha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TBD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319" name="Google Shape;319;p48"/>
          <p:cNvGraphicFramePr/>
          <p:nvPr/>
        </p:nvGraphicFramePr>
        <p:xfrm>
          <a:off x="555651" y="1336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1933350"/>
                <a:gridCol w="1568025"/>
                <a:gridCol w="1568025"/>
                <a:gridCol w="1568025"/>
                <a:gridCol w="1568025"/>
              </a:tblGrid>
              <a:tr h="6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Update company voicemail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 - 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9/11/2025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Acquire backup hard drives; schedule auto backups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11/13/2025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Reach out to Alamo re: bent pillars. Determine need for new subs.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12/11/2025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Complete. AG inspected subs for defect - no issues found.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Timeline and budget for CMMC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Dec 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325" name="Google Shape;325;p49"/>
          <p:cNvGraphicFramePr/>
          <p:nvPr/>
        </p:nvGraphicFramePr>
        <p:xfrm>
          <a:off x="311751" y="135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1998600"/>
                <a:gridCol w="1271250"/>
                <a:gridCol w="1634925"/>
                <a:gridCol w="1634925"/>
                <a:gridCol w="1634925"/>
              </a:tblGrid>
              <a:tr h="71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Continuity plan for chief engineer position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Dec. </a:t>
                      </a: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Laurie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Research financial counseling and training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 &amp; HR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ITAR Training created &amp; conducted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ITAR/AS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HR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11/13/2025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Meeting for PL1 issues: trends, tracking, reporting &amp; oversight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Dec 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331" name="Google Shape;331;p50"/>
          <p:cNvGraphicFramePr/>
          <p:nvPr/>
        </p:nvGraphicFramePr>
        <p:xfrm>
          <a:off x="311751" y="135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{6187A8FC-498D-407A-AF79-C660F34D5A1E}</a:tableStyleId>
              </a:tblPr>
              <a:tblGrid>
                <a:gridCol w="1998600"/>
                <a:gridCol w="1271250"/>
                <a:gridCol w="1634925"/>
                <a:gridCol w="1634925"/>
                <a:gridCol w="1634925"/>
              </a:tblGrid>
              <a:tr h="71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Identify actions to be returned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Timmy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12/31/2025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Finalize details for Christmas party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12/11/2025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Clarify Tasha’s role as PM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 requested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Glenn, Matt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ASAP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type="ctrTitle"/>
          </p:nvPr>
        </p:nvSpPr>
        <p:spPr>
          <a:xfrm>
            <a:off x="168825" y="1539850"/>
            <a:ext cx="57540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Organizational Risks and Opportunities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Dave</a:t>
            </a: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Tandy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7" name="Google Shape;337;p51"/>
          <p:cNvGrpSpPr/>
          <p:nvPr/>
        </p:nvGrpSpPr>
        <p:grpSpPr>
          <a:xfrm>
            <a:off x="3187425" y="113425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338" name="Google Shape;338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51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&amp; Identify Risks &amp; Opportunities</a:t>
            </a:r>
            <a:endParaRPr/>
          </a:p>
        </p:txBody>
      </p:sp>
      <p:sp>
        <p:nvSpPr>
          <p:cNvPr id="345" name="Google Shape;345;p52"/>
          <p:cNvSpPr txBox="1"/>
          <p:nvPr/>
        </p:nvSpPr>
        <p:spPr>
          <a:xfrm>
            <a:off x="231200" y="1450475"/>
            <a:ext cx="7481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SEE: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QMS Dashboard "Org Risks"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type="ctrTitle"/>
          </p:nvPr>
        </p:nvSpPr>
        <p:spPr>
          <a:xfrm>
            <a:off x="168825" y="1539850"/>
            <a:ext cx="57540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Calendar Review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1" name="Google Shape;351;p53"/>
          <p:cNvGrpSpPr/>
          <p:nvPr/>
        </p:nvGrpSpPr>
        <p:grpSpPr>
          <a:xfrm>
            <a:off x="3187425" y="113425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352" name="Google Shape;352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53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Calendar Review</a:t>
            </a:r>
            <a:endParaRPr/>
          </a:p>
        </p:txBody>
      </p:sp>
      <p:sp>
        <p:nvSpPr>
          <p:cNvPr id="359" name="Google Shape;359;p54"/>
          <p:cNvSpPr txBox="1"/>
          <p:nvPr/>
        </p:nvSpPr>
        <p:spPr>
          <a:xfrm>
            <a:off x="211625" y="1567025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Term Events (30 days):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		   i. Feb 16 - President’s Day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ii. Feb 16-20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Dave &amp; Angie vacation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		 iii. March 11 - birthday snacks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iv.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March 12 - Business Review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March 16-20 - Calibration Week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vi. March 27 - all Tandy's gone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	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Calendar Review</a:t>
            </a:r>
            <a:endParaRPr/>
          </a:p>
        </p:txBody>
      </p:sp>
      <p:sp>
        <p:nvSpPr>
          <p:cNvPr id="365" name="Google Shape;365;p55"/>
          <p:cNvSpPr txBox="1"/>
          <p:nvPr/>
        </p:nvSpPr>
        <p:spPr>
          <a:xfrm>
            <a:off x="226900" y="1200725"/>
            <a:ext cx="8520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Mid-Term Events (31-90 days):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i. Apr 3 - Good Friday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 Apr 8 - Birthday snacks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iii. Apr 9 - Business Review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iv. Apr 15 -17 - AAAA Warfighting Summit (Nashville)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 v. May 1 - Labor Day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vi. May 10 - Mother’s Day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vii. May 13 - Birthday snacks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vii. May 14 - Business Review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Long-Term Events (91+ days): 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i. July 18-23 - Matt &amp; Laurie vacation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 Sep 3-15 - Matt &amp; Laurie vacation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Nov 17-19 - AAAA Cribbins Futures Forum (Huntsville)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71" name="Google Shape;371;p56"/>
          <p:cNvSpPr txBox="1"/>
          <p:nvPr/>
        </p:nvSpPr>
        <p:spPr>
          <a:xfrm>
            <a:off x="350700" y="1374275"/>
            <a:ext cx="7481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56"/>
          <p:cNvSpPr txBox="1"/>
          <p:nvPr/>
        </p:nvSpPr>
        <p:spPr>
          <a:xfrm>
            <a:off x="619600" y="1673850"/>
            <a:ext cx="7858500" cy="29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